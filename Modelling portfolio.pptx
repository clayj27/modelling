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3" r:id="rId7"/>
    <p:sldId id="264" r:id="rId8"/>
    <p:sldId id="265"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p:scale>
          <a:sx n="100" d="100"/>
          <a:sy n="100" d="100"/>
        </p:scale>
        <p:origin x="2552" y="1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4E9B0-D5A0-5D79-1D48-22E398F0DA5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4A55A858-0CBB-9583-CAA3-1B3D37E246E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4675B7D9-0562-71FF-446A-384699C9C44C}"/>
              </a:ext>
            </a:extLst>
          </p:cNvPr>
          <p:cNvSpPr>
            <a:spLocks noGrp="1"/>
          </p:cNvSpPr>
          <p:nvPr>
            <p:ph type="dt" sz="half" idx="10"/>
          </p:nvPr>
        </p:nvSpPr>
        <p:spPr/>
        <p:txBody>
          <a:bodyPr/>
          <a:lstStyle/>
          <a:p>
            <a:fld id="{91A383FA-0073-4418-B5D6-6F8F732339E7}" type="datetimeFigureOut">
              <a:rPr lang="en-GB" smtClean="0"/>
              <a:t>26/04/2026</a:t>
            </a:fld>
            <a:endParaRPr lang="en-GB"/>
          </a:p>
        </p:txBody>
      </p:sp>
      <p:sp>
        <p:nvSpPr>
          <p:cNvPr id="5" name="Footer Placeholder 4">
            <a:extLst>
              <a:ext uri="{FF2B5EF4-FFF2-40B4-BE49-F238E27FC236}">
                <a16:creationId xmlns:a16="http://schemas.microsoft.com/office/drawing/2014/main" id="{EB55100A-B988-461A-191C-76D6A0038B3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0C29571-53BE-15C5-4FC7-FE1DB1A826BF}"/>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10247374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159FB-D4DB-CD82-95D8-B929411098A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F6578408-EF43-105D-D367-59C63FDE507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C9ADC20-AA58-066A-DB37-50B7485639AB}"/>
              </a:ext>
            </a:extLst>
          </p:cNvPr>
          <p:cNvSpPr>
            <a:spLocks noGrp="1"/>
          </p:cNvSpPr>
          <p:nvPr>
            <p:ph type="dt" sz="half" idx="10"/>
          </p:nvPr>
        </p:nvSpPr>
        <p:spPr/>
        <p:txBody>
          <a:bodyPr/>
          <a:lstStyle/>
          <a:p>
            <a:fld id="{91A383FA-0073-4418-B5D6-6F8F732339E7}" type="datetimeFigureOut">
              <a:rPr lang="en-GB" smtClean="0"/>
              <a:t>26/04/2026</a:t>
            </a:fld>
            <a:endParaRPr lang="en-GB"/>
          </a:p>
        </p:txBody>
      </p:sp>
      <p:sp>
        <p:nvSpPr>
          <p:cNvPr id="5" name="Footer Placeholder 4">
            <a:extLst>
              <a:ext uri="{FF2B5EF4-FFF2-40B4-BE49-F238E27FC236}">
                <a16:creationId xmlns:a16="http://schemas.microsoft.com/office/drawing/2014/main" id="{C88ADDCA-5D32-D552-9385-A98E40B7395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7C0CC80-16EF-F4E9-EE1B-DED0D9B1676C}"/>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40025162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7B718-6923-60EB-830F-160C4CDEDE5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5E3A3510-93F2-ABE7-6C2F-CBCCA295CE5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DA2D02-3128-539D-EB7A-D6169998FAF9}"/>
              </a:ext>
            </a:extLst>
          </p:cNvPr>
          <p:cNvSpPr>
            <a:spLocks noGrp="1"/>
          </p:cNvSpPr>
          <p:nvPr>
            <p:ph type="dt" sz="half" idx="10"/>
          </p:nvPr>
        </p:nvSpPr>
        <p:spPr/>
        <p:txBody>
          <a:bodyPr/>
          <a:lstStyle/>
          <a:p>
            <a:fld id="{91A383FA-0073-4418-B5D6-6F8F732339E7}" type="datetimeFigureOut">
              <a:rPr lang="en-GB" smtClean="0"/>
              <a:t>26/04/2026</a:t>
            </a:fld>
            <a:endParaRPr lang="en-GB"/>
          </a:p>
        </p:txBody>
      </p:sp>
      <p:sp>
        <p:nvSpPr>
          <p:cNvPr id="5" name="Footer Placeholder 4">
            <a:extLst>
              <a:ext uri="{FF2B5EF4-FFF2-40B4-BE49-F238E27FC236}">
                <a16:creationId xmlns:a16="http://schemas.microsoft.com/office/drawing/2014/main" id="{69C8197A-21E5-8178-8098-8E742028A72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D71B4A1-088A-218A-B96B-70C7D2EF1927}"/>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15460338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99FF7B-53D5-089E-8908-B46E900CFCE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2C55CCE-1C0A-7619-A118-7249A902733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F574443-5CE2-0A94-1278-F4144EA3EA8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48847CCC-703D-F038-0498-C56978F9C96E}"/>
              </a:ext>
            </a:extLst>
          </p:cNvPr>
          <p:cNvSpPr>
            <a:spLocks noGrp="1"/>
          </p:cNvSpPr>
          <p:nvPr>
            <p:ph type="dt" sz="half" idx="10"/>
          </p:nvPr>
        </p:nvSpPr>
        <p:spPr/>
        <p:txBody>
          <a:bodyPr/>
          <a:lstStyle/>
          <a:p>
            <a:fld id="{91A383FA-0073-4418-B5D6-6F8F732339E7}" type="datetimeFigureOut">
              <a:rPr lang="en-GB" smtClean="0"/>
              <a:t>26/04/2026</a:t>
            </a:fld>
            <a:endParaRPr lang="en-GB"/>
          </a:p>
        </p:txBody>
      </p:sp>
      <p:sp>
        <p:nvSpPr>
          <p:cNvPr id="6" name="Footer Placeholder 5">
            <a:extLst>
              <a:ext uri="{FF2B5EF4-FFF2-40B4-BE49-F238E27FC236}">
                <a16:creationId xmlns:a16="http://schemas.microsoft.com/office/drawing/2014/main" id="{55A79265-0BC0-1F90-F086-65A19DBEB0E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CCD27D9-F796-EED4-2E3F-378D06D0EE19}"/>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28864638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271332-EF6F-092D-40DC-995D6CFF9BB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9AC006E2-EBE1-F0AC-D0D1-A6BBBAB2D87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E44B84A-6AA3-6CDA-C44E-F14C7FE5F25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C046567-1CE6-EE15-C335-C615D1E734F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D8A1B65-F5CC-A97E-C69A-CD44311CD9C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48EBD7F9-45A7-8A8B-F387-1A02805824BC}"/>
              </a:ext>
            </a:extLst>
          </p:cNvPr>
          <p:cNvSpPr>
            <a:spLocks noGrp="1"/>
          </p:cNvSpPr>
          <p:nvPr>
            <p:ph type="dt" sz="half" idx="10"/>
          </p:nvPr>
        </p:nvSpPr>
        <p:spPr/>
        <p:txBody>
          <a:bodyPr/>
          <a:lstStyle/>
          <a:p>
            <a:fld id="{91A383FA-0073-4418-B5D6-6F8F732339E7}" type="datetimeFigureOut">
              <a:rPr lang="en-GB" smtClean="0"/>
              <a:t>26/04/2026</a:t>
            </a:fld>
            <a:endParaRPr lang="en-GB"/>
          </a:p>
        </p:txBody>
      </p:sp>
      <p:sp>
        <p:nvSpPr>
          <p:cNvPr id="8" name="Footer Placeholder 7">
            <a:extLst>
              <a:ext uri="{FF2B5EF4-FFF2-40B4-BE49-F238E27FC236}">
                <a16:creationId xmlns:a16="http://schemas.microsoft.com/office/drawing/2014/main" id="{42802BAE-08A3-22A7-03B5-D52680B6C87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9464BD-90E0-FE61-0B0F-65FE3C5003D0}"/>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22188093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E989D-D747-9E11-2A5D-DA89F0A13A6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106F0BD0-FF6B-8CB8-3B06-B2E383E5A3DA}"/>
              </a:ext>
            </a:extLst>
          </p:cNvPr>
          <p:cNvSpPr>
            <a:spLocks noGrp="1"/>
          </p:cNvSpPr>
          <p:nvPr>
            <p:ph type="dt" sz="half" idx="10"/>
          </p:nvPr>
        </p:nvSpPr>
        <p:spPr/>
        <p:txBody>
          <a:bodyPr/>
          <a:lstStyle/>
          <a:p>
            <a:fld id="{91A383FA-0073-4418-B5D6-6F8F732339E7}" type="datetimeFigureOut">
              <a:rPr lang="en-GB" smtClean="0"/>
              <a:t>26/04/2026</a:t>
            </a:fld>
            <a:endParaRPr lang="en-GB"/>
          </a:p>
        </p:txBody>
      </p:sp>
      <p:sp>
        <p:nvSpPr>
          <p:cNvPr id="4" name="Footer Placeholder 3">
            <a:extLst>
              <a:ext uri="{FF2B5EF4-FFF2-40B4-BE49-F238E27FC236}">
                <a16:creationId xmlns:a16="http://schemas.microsoft.com/office/drawing/2014/main" id="{42877637-82F8-9CA6-A149-05ECAA70B906}"/>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4D50757-07A7-F092-BBF5-880D690DDB6A}"/>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39745238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D0D835B-33D5-D84F-2656-8A0B82617BFB}"/>
              </a:ext>
            </a:extLst>
          </p:cNvPr>
          <p:cNvSpPr>
            <a:spLocks noGrp="1"/>
          </p:cNvSpPr>
          <p:nvPr>
            <p:ph type="dt" sz="half" idx="10"/>
          </p:nvPr>
        </p:nvSpPr>
        <p:spPr/>
        <p:txBody>
          <a:bodyPr/>
          <a:lstStyle/>
          <a:p>
            <a:fld id="{91A383FA-0073-4418-B5D6-6F8F732339E7}" type="datetimeFigureOut">
              <a:rPr lang="en-GB" smtClean="0"/>
              <a:t>26/04/2026</a:t>
            </a:fld>
            <a:endParaRPr lang="en-GB"/>
          </a:p>
        </p:txBody>
      </p:sp>
      <p:sp>
        <p:nvSpPr>
          <p:cNvPr id="3" name="Footer Placeholder 2">
            <a:extLst>
              <a:ext uri="{FF2B5EF4-FFF2-40B4-BE49-F238E27FC236}">
                <a16:creationId xmlns:a16="http://schemas.microsoft.com/office/drawing/2014/main" id="{F25582DB-C0EB-E001-A662-D3701B73F99A}"/>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E5FB7805-B4F2-A641-ED90-AAC0E3F2DFE6}"/>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40909326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EBE52-8EDD-8E06-DC2C-2E5068697A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6DC66CA-56B8-5BD6-EDD8-848F1FA47B9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20C2CBD4-20F1-A10F-D1F6-321CB23EDF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8F2882-EC02-94E2-1D14-EF5CA2DD880D}"/>
              </a:ext>
            </a:extLst>
          </p:cNvPr>
          <p:cNvSpPr>
            <a:spLocks noGrp="1"/>
          </p:cNvSpPr>
          <p:nvPr>
            <p:ph type="dt" sz="half" idx="10"/>
          </p:nvPr>
        </p:nvSpPr>
        <p:spPr/>
        <p:txBody>
          <a:bodyPr/>
          <a:lstStyle/>
          <a:p>
            <a:fld id="{91A383FA-0073-4418-B5D6-6F8F732339E7}" type="datetimeFigureOut">
              <a:rPr lang="en-GB" smtClean="0"/>
              <a:t>26/04/2026</a:t>
            </a:fld>
            <a:endParaRPr lang="en-GB"/>
          </a:p>
        </p:txBody>
      </p:sp>
      <p:sp>
        <p:nvSpPr>
          <p:cNvPr id="6" name="Footer Placeholder 5">
            <a:extLst>
              <a:ext uri="{FF2B5EF4-FFF2-40B4-BE49-F238E27FC236}">
                <a16:creationId xmlns:a16="http://schemas.microsoft.com/office/drawing/2014/main" id="{83798B0D-D2C5-F029-2618-E3500738F967}"/>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C3D03C3-CF4B-B078-F318-070B85B604E2}"/>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6823388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657A2-1726-68DA-DDF6-F23F73D9A03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DA1DAFE2-1107-B6FD-C134-6425C8E9159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3FE5ED0-2276-EE26-67D3-F31CE7EE2D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CB23CA-C24D-757B-C316-7F751D0C8B3E}"/>
              </a:ext>
            </a:extLst>
          </p:cNvPr>
          <p:cNvSpPr>
            <a:spLocks noGrp="1"/>
          </p:cNvSpPr>
          <p:nvPr>
            <p:ph type="dt" sz="half" idx="10"/>
          </p:nvPr>
        </p:nvSpPr>
        <p:spPr/>
        <p:txBody>
          <a:bodyPr/>
          <a:lstStyle/>
          <a:p>
            <a:fld id="{91A383FA-0073-4418-B5D6-6F8F732339E7}" type="datetimeFigureOut">
              <a:rPr lang="en-GB" smtClean="0"/>
              <a:t>26/04/2026</a:t>
            </a:fld>
            <a:endParaRPr lang="en-GB"/>
          </a:p>
        </p:txBody>
      </p:sp>
      <p:sp>
        <p:nvSpPr>
          <p:cNvPr id="6" name="Footer Placeholder 5">
            <a:extLst>
              <a:ext uri="{FF2B5EF4-FFF2-40B4-BE49-F238E27FC236}">
                <a16:creationId xmlns:a16="http://schemas.microsoft.com/office/drawing/2014/main" id="{D8519AD4-DB52-B9AF-BFF4-2DF03398219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C100DE4-B5CB-CC33-75A2-5390430DD297}"/>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3826397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F5EE9-0B8D-E62C-88F1-AA2190FC00F9}"/>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86A85422-FC20-9129-38B7-469AAE0265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1BC25BF-4C06-5476-E99A-EF7FC365D155}"/>
              </a:ext>
            </a:extLst>
          </p:cNvPr>
          <p:cNvSpPr>
            <a:spLocks noGrp="1"/>
          </p:cNvSpPr>
          <p:nvPr>
            <p:ph type="dt" sz="half" idx="10"/>
          </p:nvPr>
        </p:nvSpPr>
        <p:spPr/>
        <p:txBody>
          <a:bodyPr/>
          <a:lstStyle/>
          <a:p>
            <a:fld id="{91A383FA-0073-4418-B5D6-6F8F732339E7}" type="datetimeFigureOut">
              <a:rPr lang="en-GB" smtClean="0"/>
              <a:t>26/04/2026</a:t>
            </a:fld>
            <a:endParaRPr lang="en-GB"/>
          </a:p>
        </p:txBody>
      </p:sp>
      <p:sp>
        <p:nvSpPr>
          <p:cNvPr id="5" name="Footer Placeholder 4">
            <a:extLst>
              <a:ext uri="{FF2B5EF4-FFF2-40B4-BE49-F238E27FC236}">
                <a16:creationId xmlns:a16="http://schemas.microsoft.com/office/drawing/2014/main" id="{6F4596F2-6B68-92F3-EE30-4391851F126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35323F7-204A-2A8B-D76C-32F071D23634}"/>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1168720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CB87A-93DF-3267-3CD1-72C2AF7B40C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F8E110C-6A39-7BA3-2E52-7E97DCFA4C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3365F43-5A9A-3D6C-5D7F-05AB682E7DC7}"/>
              </a:ext>
            </a:extLst>
          </p:cNvPr>
          <p:cNvSpPr>
            <a:spLocks noGrp="1"/>
          </p:cNvSpPr>
          <p:nvPr>
            <p:ph type="dt" sz="half" idx="10"/>
          </p:nvPr>
        </p:nvSpPr>
        <p:spPr/>
        <p:txBody>
          <a:bodyPr/>
          <a:lstStyle/>
          <a:p>
            <a:fld id="{91A383FA-0073-4418-B5D6-6F8F732339E7}" type="datetimeFigureOut">
              <a:rPr lang="en-GB" smtClean="0"/>
              <a:t>26/04/2026</a:t>
            </a:fld>
            <a:endParaRPr lang="en-GB"/>
          </a:p>
        </p:txBody>
      </p:sp>
      <p:sp>
        <p:nvSpPr>
          <p:cNvPr id="5" name="Footer Placeholder 4">
            <a:extLst>
              <a:ext uri="{FF2B5EF4-FFF2-40B4-BE49-F238E27FC236}">
                <a16:creationId xmlns:a16="http://schemas.microsoft.com/office/drawing/2014/main" id="{829D9429-0DBF-9B04-8617-09259F10BF9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E832B25-E94D-CEA0-2E4B-E06FDFC90B82}"/>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1526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4E0211-5A0F-351E-6123-A294A6423B8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B87BB4B4-3FE2-0FE4-8608-BC1BD2402CA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ABE721B-EEDB-CA86-C23E-C3B4DD4AE91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1A383FA-0073-4418-B5D6-6F8F732339E7}" type="datetimeFigureOut">
              <a:rPr lang="en-GB" smtClean="0"/>
              <a:t>26/04/2026</a:t>
            </a:fld>
            <a:endParaRPr lang="en-GB"/>
          </a:p>
        </p:txBody>
      </p:sp>
      <p:sp>
        <p:nvSpPr>
          <p:cNvPr id="5" name="Footer Placeholder 4">
            <a:extLst>
              <a:ext uri="{FF2B5EF4-FFF2-40B4-BE49-F238E27FC236}">
                <a16:creationId xmlns:a16="http://schemas.microsoft.com/office/drawing/2014/main" id="{79914375-6619-AEF7-A14E-7E1D61F6985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D4682008-7BC0-D713-B677-932387C1AD0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BED2E66-F03D-47FF-B935-DADF0760B709}" type="slidenum">
              <a:rPr lang="en-GB" smtClean="0"/>
              <a:t>‹#›</a:t>
            </a:fld>
            <a:endParaRPr lang="en-GB"/>
          </a:p>
        </p:txBody>
      </p:sp>
    </p:spTree>
    <p:extLst>
      <p:ext uri="{BB962C8B-B14F-4D97-AF65-F5344CB8AC3E}">
        <p14:creationId xmlns:p14="http://schemas.microsoft.com/office/powerpoint/2010/main" val="13416582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E30439A-8A5B-46EC-8283-9B6B031D40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7"/>
            <a:ext cx="12192001" cy="6858000"/>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55521" y="-1720"/>
            <a:ext cx="11750040" cy="6840685"/>
          </a:xfrm>
          <a:prstGeom prst="rect">
            <a:avLst/>
          </a:prstGeom>
          <a:gradFill>
            <a:gsLst>
              <a:gs pos="21000">
                <a:schemeClr val="accent1">
                  <a:lumMod val="50000"/>
                  <a:alpha val="61000"/>
                </a:schemeClr>
              </a:gs>
              <a:gs pos="100000">
                <a:schemeClr val="accent1">
                  <a:alpha val="0"/>
                </a:scheme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6054" y="-1291"/>
            <a:ext cx="3608179" cy="6858864"/>
          </a:xfrm>
          <a:prstGeom prst="rect">
            <a:avLst/>
          </a:prstGeom>
          <a:gradFill>
            <a:gsLst>
              <a:gs pos="0">
                <a:schemeClr val="accent1">
                  <a:lumMod val="75000"/>
                  <a:alpha val="0"/>
                </a:schemeClr>
              </a:gs>
              <a:gs pos="99000">
                <a:srgbClr val="000000">
                  <a:alpha val="41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274173">
            <a:off x="6059728" y="779270"/>
            <a:ext cx="4967533" cy="4988390"/>
          </a:xfrm>
          <a:prstGeom prst="ellipse">
            <a:avLst/>
          </a:prstGeom>
          <a:gradFill>
            <a:gsLst>
              <a:gs pos="0">
                <a:schemeClr val="accent1">
                  <a:alpha val="24000"/>
                </a:schemeClr>
              </a:gs>
              <a:gs pos="79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613DF40-EE8F-AC86-E4CA-7E5F5E3BC61C}"/>
              </a:ext>
            </a:extLst>
          </p:cNvPr>
          <p:cNvSpPr>
            <a:spLocks noGrp="1"/>
          </p:cNvSpPr>
          <p:nvPr>
            <p:ph type="ctrTitle"/>
          </p:nvPr>
        </p:nvSpPr>
        <p:spPr>
          <a:xfrm>
            <a:off x="1386865" y="818984"/>
            <a:ext cx="6596245" cy="3268520"/>
          </a:xfrm>
        </p:spPr>
        <p:txBody>
          <a:bodyPr>
            <a:normAutofit/>
          </a:bodyPr>
          <a:lstStyle/>
          <a:p>
            <a:pPr algn="r"/>
            <a:r>
              <a:rPr lang="en-GB" sz="4800">
                <a:solidFill>
                  <a:srgbClr val="FFFFFF"/>
                </a:solidFill>
              </a:rPr>
              <a:t>3D Modelling </a:t>
            </a:r>
          </a:p>
        </p:txBody>
      </p:sp>
      <p:sp>
        <p:nvSpPr>
          <p:cNvPr id="18" name="Rectangle 17">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314" y="4480038"/>
            <a:ext cx="12179371" cy="2377962"/>
          </a:xfrm>
          <a:prstGeom prst="rect">
            <a:avLst/>
          </a:prstGeom>
          <a:gradFill>
            <a:gsLst>
              <a:gs pos="0">
                <a:schemeClr val="accent1">
                  <a:lumMod val="75000"/>
                  <a:alpha val="50000"/>
                </a:schemeClr>
              </a:gs>
              <a:gs pos="99000">
                <a:srgbClr val="000000">
                  <a:alpha val="34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0DB1CED7-F809-A91D-403E-46BF029F26C5}"/>
              </a:ext>
            </a:extLst>
          </p:cNvPr>
          <p:cNvSpPr>
            <a:spLocks noGrp="1"/>
          </p:cNvSpPr>
          <p:nvPr>
            <p:ph type="subTitle" idx="1"/>
          </p:nvPr>
        </p:nvSpPr>
        <p:spPr>
          <a:xfrm>
            <a:off x="1931874" y="4797188"/>
            <a:ext cx="6051236" cy="1241828"/>
          </a:xfrm>
        </p:spPr>
        <p:txBody>
          <a:bodyPr>
            <a:normAutofit/>
          </a:bodyPr>
          <a:lstStyle/>
          <a:p>
            <a:pPr algn="r"/>
            <a:r>
              <a:rPr lang="en-GB">
                <a:solidFill>
                  <a:srgbClr val="FFFFFF"/>
                </a:solidFill>
              </a:rPr>
              <a:t>3D Silo modelling project by Clay Johnson - 25134410</a:t>
            </a:r>
          </a:p>
        </p:txBody>
      </p:sp>
      <p:sp>
        <p:nvSpPr>
          <p:cNvPr id="20" name="Rectangle 19">
            <a:extLst>
              <a:ext uri="{FF2B5EF4-FFF2-40B4-BE49-F238E27FC236}">
                <a16:creationId xmlns:a16="http://schemas.microsoft.com/office/drawing/2014/main" id="{53947E58-F088-49F1-A3D1-DEA690192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6967085" y="1632660"/>
            <a:ext cx="6857572" cy="3592258"/>
          </a:xfrm>
          <a:prstGeom prst="rect">
            <a:avLst/>
          </a:prstGeom>
          <a:gradFill>
            <a:gsLst>
              <a:gs pos="0">
                <a:schemeClr val="accent1">
                  <a:lumMod val="75000"/>
                  <a:alpha val="50000"/>
                </a:schemeClr>
              </a:gs>
              <a:gs pos="99000">
                <a:srgbClr val="000000">
                  <a:alpha val="0"/>
                </a:srgb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3849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0343CE-A077-B2E1-9EBC-9FB251978DBD}"/>
              </a:ext>
            </a:extLst>
          </p:cNvPr>
          <p:cNvSpPr>
            <a:spLocks noGrp="1"/>
          </p:cNvSpPr>
          <p:nvPr>
            <p:ph type="title"/>
          </p:nvPr>
        </p:nvSpPr>
        <p:spPr>
          <a:xfrm>
            <a:off x="1136397" y="502020"/>
            <a:ext cx="5323715" cy="1642970"/>
          </a:xfrm>
        </p:spPr>
        <p:txBody>
          <a:bodyPr vert="horz" lIns="91440" tIns="45720" rIns="91440" bIns="45720" rtlCol="0" anchor="b">
            <a:normAutofit/>
          </a:bodyPr>
          <a:lstStyle/>
          <a:p>
            <a:r>
              <a:rPr lang="en-US" sz="4000" kern="1200">
                <a:solidFill>
                  <a:schemeClr val="tx1"/>
                </a:solidFill>
                <a:latin typeface="+mj-lt"/>
                <a:ea typeface="+mj-ea"/>
                <a:cs typeface="+mj-cs"/>
              </a:rPr>
              <a:t>Task Assignment</a:t>
            </a:r>
          </a:p>
        </p:txBody>
      </p:sp>
      <p:sp>
        <p:nvSpPr>
          <p:cNvPr id="7" name="TextBox 6">
            <a:extLst>
              <a:ext uri="{FF2B5EF4-FFF2-40B4-BE49-F238E27FC236}">
                <a16:creationId xmlns:a16="http://schemas.microsoft.com/office/drawing/2014/main" id="{5234FFB8-D65E-8DC6-AEC9-2647BC251AF3}"/>
              </a:ext>
            </a:extLst>
          </p:cNvPr>
          <p:cNvSpPr txBox="1"/>
          <p:nvPr/>
        </p:nvSpPr>
        <p:spPr>
          <a:xfrm>
            <a:off x="1144923" y="2405894"/>
            <a:ext cx="5315189" cy="3535083"/>
          </a:xfrm>
          <a:prstGeom prst="rect">
            <a:avLst/>
          </a:prstGeom>
        </p:spPr>
        <p:txBody>
          <a:bodyPr vert="horz" lIns="91440" tIns="45720" rIns="91440" bIns="45720" rtlCol="0" anchor="t">
            <a:normAutofit/>
          </a:bodyPr>
          <a:lstStyle/>
          <a:p>
            <a:pPr indent="-228600">
              <a:lnSpc>
                <a:spcPct val="90000"/>
              </a:lnSpc>
              <a:spcAft>
                <a:spcPts val="600"/>
              </a:spcAft>
              <a:buFont typeface="Arial" panose="020B0604020202020204" pitchFamily="34" charset="0"/>
              <a:buChar char="•"/>
            </a:pPr>
            <a:r>
              <a:rPr lang="en-US" sz="1900"/>
              <a:t> - The assigned task was to make our own 3D model of a silo by:</a:t>
            </a:r>
          </a:p>
          <a:p>
            <a:pPr indent="-228600">
              <a:lnSpc>
                <a:spcPct val="90000"/>
              </a:lnSpc>
              <a:spcAft>
                <a:spcPts val="600"/>
              </a:spcAft>
              <a:buFont typeface="Arial" panose="020B0604020202020204" pitchFamily="34" charset="0"/>
              <a:buChar char="•"/>
            </a:pPr>
            <a:endParaRPr lang="en-US" sz="1900"/>
          </a:p>
          <a:p>
            <a:pPr indent="-228600">
              <a:lnSpc>
                <a:spcPct val="90000"/>
              </a:lnSpc>
              <a:spcAft>
                <a:spcPts val="600"/>
              </a:spcAft>
              <a:buFont typeface="Arial" panose="020B0604020202020204" pitchFamily="34" charset="0"/>
              <a:buChar char="•"/>
            </a:pPr>
            <a:r>
              <a:rPr lang="en-US" sz="1900"/>
              <a:t>-Using the Splash Damage art test silo as a reference</a:t>
            </a:r>
          </a:p>
          <a:p>
            <a:pPr indent="-228600">
              <a:lnSpc>
                <a:spcPct val="90000"/>
              </a:lnSpc>
              <a:spcAft>
                <a:spcPts val="600"/>
              </a:spcAft>
              <a:buFont typeface="Arial" panose="020B0604020202020204" pitchFamily="34" charset="0"/>
              <a:buChar char="•"/>
            </a:pPr>
            <a:r>
              <a:rPr lang="en-US" sz="1900"/>
              <a:t>-Creating a low poly and high poly model with a complete UV unwrap</a:t>
            </a:r>
          </a:p>
          <a:p>
            <a:pPr indent="-228600">
              <a:lnSpc>
                <a:spcPct val="90000"/>
              </a:lnSpc>
              <a:spcAft>
                <a:spcPts val="600"/>
              </a:spcAft>
              <a:buFont typeface="Arial" panose="020B0604020202020204" pitchFamily="34" charset="0"/>
              <a:buChar char="•"/>
            </a:pPr>
            <a:r>
              <a:rPr lang="en-US" sz="1900"/>
              <a:t>-Bake the model in Adobe Substance Painter</a:t>
            </a:r>
          </a:p>
          <a:p>
            <a:pPr indent="-228600">
              <a:lnSpc>
                <a:spcPct val="90000"/>
              </a:lnSpc>
              <a:spcAft>
                <a:spcPts val="600"/>
              </a:spcAft>
              <a:buFont typeface="Arial" panose="020B0604020202020204" pitchFamily="34" charset="0"/>
              <a:buChar char="•"/>
            </a:pPr>
            <a:r>
              <a:rPr lang="en-US" sz="1900"/>
              <a:t>-Fully texture the model in Adobe Substance Painter</a:t>
            </a:r>
          </a:p>
          <a:p>
            <a:pPr indent="-228600">
              <a:lnSpc>
                <a:spcPct val="90000"/>
              </a:lnSpc>
              <a:spcAft>
                <a:spcPts val="600"/>
              </a:spcAft>
              <a:buFont typeface="Arial" panose="020B0604020202020204" pitchFamily="34" charset="0"/>
              <a:buChar char="•"/>
            </a:pPr>
            <a:r>
              <a:rPr lang="en-US" sz="1900"/>
              <a:t>-Render the completed model in Unreal Engine</a:t>
            </a:r>
          </a:p>
        </p:txBody>
      </p:sp>
      <p:sp>
        <p:nvSpPr>
          <p:cNvPr id="14" name="Rectangle 13">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Content Placeholder 4">
            <a:extLst>
              <a:ext uri="{FF2B5EF4-FFF2-40B4-BE49-F238E27FC236}">
                <a16:creationId xmlns:a16="http://schemas.microsoft.com/office/drawing/2014/main" id="{25357A3B-0EEE-AB4F-5BB2-EF929062D63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75967" y="2271985"/>
            <a:ext cx="4170530" cy="2345922"/>
          </a:xfrm>
          <a:prstGeom prst="rect">
            <a:avLst/>
          </a:prstGeom>
        </p:spPr>
      </p:pic>
    </p:spTree>
    <p:extLst>
      <p:ext uri="{BB962C8B-B14F-4D97-AF65-F5344CB8AC3E}">
        <p14:creationId xmlns:p14="http://schemas.microsoft.com/office/powerpoint/2010/main" val="35712845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50D1C5B3-B60D-4696-AE60-100D5EC8AB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73EDDF53-0851-48D4-A466-6FE0DCE91E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2002" cy="1576446"/>
            <a:chOff x="0" y="0"/>
            <a:chExt cx="12192002" cy="1576446"/>
          </a:xfrm>
        </p:grpSpPr>
        <p:sp>
          <p:nvSpPr>
            <p:cNvPr id="30" name="Rectangle 29">
              <a:extLst>
                <a:ext uri="{FF2B5EF4-FFF2-40B4-BE49-F238E27FC236}">
                  <a16:creationId xmlns:a16="http://schemas.microsoft.com/office/drawing/2014/main" id="{D074D04C-85E8-4A3E-90D7-86A10AE048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097020A-86B6-43BD-A2AA-66AE72CA31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07778" y="-5307778"/>
              <a:ext cx="1576446" cy="12192002"/>
            </a:xfrm>
            <a:prstGeom prst="rect">
              <a:avLst/>
            </a:prstGeom>
            <a:gradFill>
              <a:gsLst>
                <a:gs pos="45000">
                  <a:schemeClr val="accent1">
                    <a:alpha val="0"/>
                  </a:schemeClr>
                </a:gs>
                <a:gs pos="99000">
                  <a:srgbClr val="000000">
                    <a:alpha val="74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31">
              <a:extLst>
                <a:ext uri="{FF2B5EF4-FFF2-40B4-BE49-F238E27FC236}">
                  <a16:creationId xmlns:a16="http://schemas.microsoft.com/office/drawing/2014/main" id="{20C6C743-32FE-4E24-AA22-45D3B1C7C0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825434" y="0"/>
              <a:ext cx="4303422" cy="1575461"/>
            </a:xfrm>
            <a:prstGeom prst="rect">
              <a:avLst/>
            </a:prstGeom>
            <a:gradFill>
              <a:gsLst>
                <a:gs pos="0">
                  <a:schemeClr val="accent1">
                    <a:alpha val="17000"/>
                  </a:schemeClr>
                </a:gs>
                <a:gs pos="74000">
                  <a:schemeClr val="accent1">
                    <a:lumMod val="5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2ACF745D-C833-D9AA-2A1F-AE5FAE7BB1EA}"/>
              </a:ext>
            </a:extLst>
          </p:cNvPr>
          <p:cNvSpPr>
            <a:spLocks noGrp="1"/>
          </p:cNvSpPr>
          <p:nvPr>
            <p:ph type="title"/>
          </p:nvPr>
        </p:nvSpPr>
        <p:spPr>
          <a:xfrm>
            <a:off x="1371600" y="407695"/>
            <a:ext cx="9724030" cy="834251"/>
          </a:xfrm>
        </p:spPr>
        <p:txBody>
          <a:bodyPr anchor="ctr">
            <a:normAutofit/>
          </a:bodyPr>
          <a:lstStyle/>
          <a:p>
            <a:r>
              <a:rPr lang="en-GB" sz="4000">
                <a:solidFill>
                  <a:srgbClr val="FFFFFF"/>
                </a:solidFill>
              </a:rPr>
              <a:t>Basic Block Out</a:t>
            </a:r>
          </a:p>
        </p:txBody>
      </p:sp>
      <p:pic>
        <p:nvPicPr>
          <p:cNvPr id="7" name="Picture 6">
            <a:extLst>
              <a:ext uri="{FF2B5EF4-FFF2-40B4-BE49-F238E27FC236}">
                <a16:creationId xmlns:a16="http://schemas.microsoft.com/office/drawing/2014/main" id="{A0AB7018-0DA5-4686-129B-35B14826B7E7}"/>
              </a:ext>
            </a:extLst>
          </p:cNvPr>
          <p:cNvPicPr>
            <a:picLocks noChangeAspect="1"/>
          </p:cNvPicPr>
          <p:nvPr/>
        </p:nvPicPr>
        <p:blipFill>
          <a:blip r:embed="rId2">
            <a:extLst>
              <a:ext uri="{28A0092B-C50C-407E-A947-70E740481C1C}">
                <a14:useLocalDpi xmlns:a14="http://schemas.microsoft.com/office/drawing/2010/main" val="0"/>
              </a:ext>
            </a:extLst>
          </a:blip>
          <a:srcRect t="1250" r="4" b="4"/>
          <a:stretch>
            <a:fillRect/>
          </a:stretch>
        </p:blipFill>
        <p:spPr>
          <a:xfrm>
            <a:off x="2145701" y="2200459"/>
            <a:ext cx="2133001" cy="2133001"/>
          </a:xfrm>
          <a:prstGeom prst="rect">
            <a:avLst/>
          </a:prstGeom>
        </p:spPr>
      </p:pic>
      <p:pic>
        <p:nvPicPr>
          <p:cNvPr id="5" name="Picture 4">
            <a:extLst>
              <a:ext uri="{FF2B5EF4-FFF2-40B4-BE49-F238E27FC236}">
                <a16:creationId xmlns:a16="http://schemas.microsoft.com/office/drawing/2014/main" id="{383032DE-B371-92A1-1869-39E6A7FFE1AA}"/>
              </a:ext>
            </a:extLst>
          </p:cNvPr>
          <p:cNvPicPr>
            <a:picLocks noChangeAspect="1"/>
          </p:cNvPicPr>
          <p:nvPr/>
        </p:nvPicPr>
        <p:blipFill>
          <a:blip r:embed="rId3">
            <a:extLst>
              <a:ext uri="{28A0092B-C50C-407E-A947-70E740481C1C}">
                <a14:useLocalDpi xmlns:a14="http://schemas.microsoft.com/office/drawing/2010/main" val="0"/>
              </a:ext>
            </a:extLst>
          </a:blip>
          <a:srcRect t="7014" r="-2" b="3234"/>
          <a:stretch>
            <a:fillRect/>
          </a:stretch>
        </p:blipFill>
        <p:spPr>
          <a:xfrm>
            <a:off x="5036300" y="2200459"/>
            <a:ext cx="2132994" cy="2133001"/>
          </a:xfrm>
          <a:prstGeom prst="rect">
            <a:avLst/>
          </a:prstGeom>
        </p:spPr>
      </p:pic>
      <p:pic>
        <p:nvPicPr>
          <p:cNvPr id="9" name="Picture 8">
            <a:extLst>
              <a:ext uri="{FF2B5EF4-FFF2-40B4-BE49-F238E27FC236}">
                <a16:creationId xmlns:a16="http://schemas.microsoft.com/office/drawing/2014/main" id="{6C6C50E1-D4BF-BCD9-3042-D8513F409AEC}"/>
              </a:ext>
            </a:extLst>
          </p:cNvPr>
          <p:cNvPicPr>
            <a:picLocks noChangeAspect="1"/>
          </p:cNvPicPr>
          <p:nvPr/>
        </p:nvPicPr>
        <p:blipFill>
          <a:blip r:embed="rId4"/>
          <a:srcRect r="2501" b="1"/>
          <a:stretch>
            <a:fillRect/>
          </a:stretch>
        </p:blipFill>
        <p:spPr>
          <a:xfrm>
            <a:off x="7913295" y="2200459"/>
            <a:ext cx="2133001" cy="2133001"/>
          </a:xfrm>
          <a:prstGeom prst="rect">
            <a:avLst/>
          </a:prstGeom>
        </p:spPr>
      </p:pic>
      <p:sp>
        <p:nvSpPr>
          <p:cNvPr id="3" name="Content Placeholder 2">
            <a:extLst>
              <a:ext uri="{FF2B5EF4-FFF2-40B4-BE49-F238E27FC236}">
                <a16:creationId xmlns:a16="http://schemas.microsoft.com/office/drawing/2014/main" id="{4007411F-5C48-221A-2D74-7D983FC3C6E5}"/>
              </a:ext>
            </a:extLst>
          </p:cNvPr>
          <p:cNvSpPr>
            <a:spLocks noGrp="1"/>
          </p:cNvSpPr>
          <p:nvPr>
            <p:ph idx="1"/>
          </p:nvPr>
        </p:nvSpPr>
        <p:spPr>
          <a:xfrm>
            <a:off x="1371601" y="4786744"/>
            <a:ext cx="9448800" cy="1442631"/>
          </a:xfrm>
        </p:spPr>
        <p:txBody>
          <a:bodyPr>
            <a:normAutofit/>
          </a:bodyPr>
          <a:lstStyle/>
          <a:p>
            <a:pPr marL="0" indent="0">
              <a:buNone/>
            </a:pPr>
            <a:r>
              <a:rPr lang="en-GB" sz="2000"/>
              <a:t>My first step in creating the model was to block out the shape of the silo using basic shapes while still making a to-scale version of what the complete silo should look like</a:t>
            </a:r>
          </a:p>
        </p:txBody>
      </p:sp>
    </p:spTree>
    <p:extLst>
      <p:ext uri="{BB962C8B-B14F-4D97-AF65-F5344CB8AC3E}">
        <p14:creationId xmlns:p14="http://schemas.microsoft.com/office/powerpoint/2010/main" val="22437348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712E947-0734-45F9-9C4F-41114EC3A3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285"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12B3290A-D3BF-4B87-B55B-FD9A98B4972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9030" cy="1576446"/>
            <a:chOff x="0" y="0"/>
            <a:chExt cx="12192002" cy="1576446"/>
          </a:xfrm>
        </p:grpSpPr>
        <p:sp>
          <p:nvSpPr>
            <p:cNvPr id="15" name="Rectangle 14">
              <a:extLst>
                <a:ext uri="{FF2B5EF4-FFF2-40B4-BE49-F238E27FC236}">
                  <a16:creationId xmlns:a16="http://schemas.microsoft.com/office/drawing/2014/main" id="{033A715A-0686-440A-8F40-441B42A66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761657F-19F2-425B-B7E9-0118CD13C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07778" y="-5307778"/>
              <a:ext cx="1576446" cy="12192002"/>
            </a:xfrm>
            <a:prstGeom prst="rect">
              <a:avLst/>
            </a:prstGeom>
            <a:gradFill>
              <a:gsLst>
                <a:gs pos="45000">
                  <a:schemeClr val="accent1">
                    <a:alpha val="0"/>
                  </a:schemeClr>
                </a:gs>
                <a:gs pos="99000">
                  <a:srgbClr val="000000">
                    <a:alpha val="74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E27B6634-79D3-4EDD-A77A-1065D6F3A4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825434" y="0"/>
              <a:ext cx="4303422" cy="1575461"/>
            </a:xfrm>
            <a:prstGeom prst="rect">
              <a:avLst/>
            </a:prstGeom>
            <a:gradFill>
              <a:gsLst>
                <a:gs pos="0">
                  <a:schemeClr val="accent1">
                    <a:alpha val="17000"/>
                  </a:schemeClr>
                </a:gs>
                <a:gs pos="74000">
                  <a:schemeClr val="accent1">
                    <a:lumMod val="5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BA4E04B-06A8-D6E2-3141-8FAB48F2B4F8}"/>
              </a:ext>
            </a:extLst>
          </p:cNvPr>
          <p:cNvSpPr>
            <a:spLocks noGrp="1"/>
          </p:cNvSpPr>
          <p:nvPr>
            <p:ph type="title"/>
          </p:nvPr>
        </p:nvSpPr>
        <p:spPr>
          <a:xfrm>
            <a:off x="1371598" y="319314"/>
            <a:ext cx="9477377" cy="1030515"/>
          </a:xfrm>
        </p:spPr>
        <p:txBody>
          <a:bodyPr anchor="ctr">
            <a:normAutofit/>
          </a:bodyPr>
          <a:lstStyle/>
          <a:p>
            <a:r>
              <a:rPr lang="en-GB" sz="4000">
                <a:solidFill>
                  <a:srgbClr val="FFFFFF"/>
                </a:solidFill>
              </a:rPr>
              <a:t>Low Poly Model</a:t>
            </a:r>
          </a:p>
        </p:txBody>
      </p:sp>
      <p:pic>
        <p:nvPicPr>
          <p:cNvPr id="7" name="Picture 6">
            <a:extLst>
              <a:ext uri="{FF2B5EF4-FFF2-40B4-BE49-F238E27FC236}">
                <a16:creationId xmlns:a16="http://schemas.microsoft.com/office/drawing/2014/main" id="{0838A3EE-055C-6C03-A92C-A72EB71F23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36282" y="2050595"/>
            <a:ext cx="2000567" cy="2617365"/>
          </a:xfrm>
          <a:prstGeom prst="rect">
            <a:avLst/>
          </a:prstGeom>
        </p:spPr>
      </p:pic>
      <p:pic>
        <p:nvPicPr>
          <p:cNvPr id="5" name="Picture 4">
            <a:extLst>
              <a:ext uri="{FF2B5EF4-FFF2-40B4-BE49-F238E27FC236}">
                <a16:creationId xmlns:a16="http://schemas.microsoft.com/office/drawing/2014/main" id="{B2115B27-E5B5-949E-2872-811A4D9D430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67671" y="2074130"/>
            <a:ext cx="2203070" cy="2617365"/>
          </a:xfrm>
          <a:prstGeom prst="rect">
            <a:avLst/>
          </a:prstGeom>
        </p:spPr>
      </p:pic>
      <p:sp>
        <p:nvSpPr>
          <p:cNvPr id="3" name="Content Placeholder 2">
            <a:extLst>
              <a:ext uri="{FF2B5EF4-FFF2-40B4-BE49-F238E27FC236}">
                <a16:creationId xmlns:a16="http://schemas.microsoft.com/office/drawing/2014/main" id="{D308B46B-E224-B941-716F-D61B0FB76974}"/>
              </a:ext>
            </a:extLst>
          </p:cNvPr>
          <p:cNvSpPr>
            <a:spLocks noGrp="1"/>
          </p:cNvSpPr>
          <p:nvPr>
            <p:ph idx="1"/>
          </p:nvPr>
        </p:nvSpPr>
        <p:spPr>
          <a:xfrm>
            <a:off x="1371598" y="5070346"/>
            <a:ext cx="9496427" cy="1385266"/>
          </a:xfrm>
        </p:spPr>
        <p:txBody>
          <a:bodyPr>
            <a:normAutofit/>
          </a:bodyPr>
          <a:lstStyle/>
          <a:p>
            <a:pPr marL="0" indent="0">
              <a:buNone/>
            </a:pPr>
            <a:r>
              <a:rPr lang="en-GB" sz="2000"/>
              <a:t>Based on the block out design, I created a complete model of the silo with features like bevels that contains very little edge loops to keep the polygon count as low as possible and prevent the model from appearing very smooth while also trying to have a clean topology, lacking n-gons</a:t>
            </a:r>
          </a:p>
        </p:txBody>
      </p:sp>
    </p:spTree>
    <p:extLst>
      <p:ext uri="{BB962C8B-B14F-4D97-AF65-F5344CB8AC3E}">
        <p14:creationId xmlns:p14="http://schemas.microsoft.com/office/powerpoint/2010/main" val="7011771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50D1C5B3-B60D-4696-AE60-100D5EC8AB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23">
            <a:extLst>
              <a:ext uri="{FF2B5EF4-FFF2-40B4-BE49-F238E27FC236}">
                <a16:creationId xmlns:a16="http://schemas.microsoft.com/office/drawing/2014/main" id="{73EDDF53-0851-48D4-A466-6FE0DCE91E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2002" cy="1576446"/>
            <a:chOff x="0" y="0"/>
            <a:chExt cx="12192002" cy="1576446"/>
          </a:xfrm>
        </p:grpSpPr>
        <p:sp>
          <p:nvSpPr>
            <p:cNvPr id="25" name="Rectangle 24">
              <a:extLst>
                <a:ext uri="{FF2B5EF4-FFF2-40B4-BE49-F238E27FC236}">
                  <a16:creationId xmlns:a16="http://schemas.microsoft.com/office/drawing/2014/main" id="{D074D04C-85E8-4A3E-90D7-86A10AE048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4097020A-86B6-43BD-A2AA-66AE72CA31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07778" y="-5307778"/>
              <a:ext cx="1576446" cy="12192002"/>
            </a:xfrm>
            <a:prstGeom prst="rect">
              <a:avLst/>
            </a:prstGeom>
            <a:gradFill>
              <a:gsLst>
                <a:gs pos="45000">
                  <a:schemeClr val="accent1">
                    <a:alpha val="0"/>
                  </a:schemeClr>
                </a:gs>
                <a:gs pos="99000">
                  <a:srgbClr val="000000">
                    <a:alpha val="74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20C6C743-32FE-4E24-AA22-45D3B1C7C0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825434" y="0"/>
              <a:ext cx="4303422" cy="1575461"/>
            </a:xfrm>
            <a:prstGeom prst="rect">
              <a:avLst/>
            </a:prstGeom>
            <a:gradFill>
              <a:gsLst>
                <a:gs pos="0">
                  <a:schemeClr val="accent1">
                    <a:alpha val="17000"/>
                  </a:schemeClr>
                </a:gs>
                <a:gs pos="74000">
                  <a:schemeClr val="accent1">
                    <a:lumMod val="5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F4DDE59-AE15-4726-E211-3602EFE1BB38}"/>
              </a:ext>
            </a:extLst>
          </p:cNvPr>
          <p:cNvSpPr>
            <a:spLocks noGrp="1"/>
          </p:cNvSpPr>
          <p:nvPr>
            <p:ph type="title"/>
          </p:nvPr>
        </p:nvSpPr>
        <p:spPr>
          <a:xfrm>
            <a:off x="1371600" y="407695"/>
            <a:ext cx="9724030" cy="834251"/>
          </a:xfrm>
        </p:spPr>
        <p:txBody>
          <a:bodyPr anchor="ctr">
            <a:normAutofit/>
          </a:bodyPr>
          <a:lstStyle/>
          <a:p>
            <a:r>
              <a:rPr lang="en-GB" sz="4000">
                <a:solidFill>
                  <a:srgbClr val="FFFFFF"/>
                </a:solidFill>
              </a:rPr>
              <a:t>High Poly Model</a:t>
            </a:r>
          </a:p>
        </p:txBody>
      </p:sp>
      <p:pic>
        <p:nvPicPr>
          <p:cNvPr id="15" name="Picture 14">
            <a:extLst>
              <a:ext uri="{FF2B5EF4-FFF2-40B4-BE49-F238E27FC236}">
                <a16:creationId xmlns:a16="http://schemas.microsoft.com/office/drawing/2014/main" id="{CECD77A8-3812-2D97-9005-C6CAE6C675D2}"/>
              </a:ext>
            </a:extLst>
          </p:cNvPr>
          <p:cNvPicPr>
            <a:picLocks noChangeAspect="1"/>
          </p:cNvPicPr>
          <p:nvPr/>
        </p:nvPicPr>
        <p:blipFill>
          <a:blip r:embed="rId2"/>
          <a:stretch>
            <a:fillRect/>
          </a:stretch>
        </p:blipFill>
        <p:spPr>
          <a:xfrm>
            <a:off x="2161699" y="2200459"/>
            <a:ext cx="2117003" cy="2133001"/>
          </a:xfrm>
          <a:prstGeom prst="rect">
            <a:avLst/>
          </a:prstGeom>
        </p:spPr>
      </p:pic>
      <p:pic>
        <p:nvPicPr>
          <p:cNvPr id="17" name="Picture 16">
            <a:extLst>
              <a:ext uri="{FF2B5EF4-FFF2-40B4-BE49-F238E27FC236}">
                <a16:creationId xmlns:a16="http://schemas.microsoft.com/office/drawing/2014/main" id="{92C1E772-86DA-503B-1C55-47EBAA757EA8}"/>
              </a:ext>
            </a:extLst>
          </p:cNvPr>
          <p:cNvPicPr>
            <a:picLocks noChangeAspect="1"/>
          </p:cNvPicPr>
          <p:nvPr/>
        </p:nvPicPr>
        <p:blipFill>
          <a:blip r:embed="rId3"/>
          <a:stretch>
            <a:fillRect/>
          </a:stretch>
        </p:blipFill>
        <p:spPr>
          <a:xfrm>
            <a:off x="5078957" y="2200459"/>
            <a:ext cx="2047681" cy="2133001"/>
          </a:xfrm>
          <a:prstGeom prst="rect">
            <a:avLst/>
          </a:prstGeom>
        </p:spPr>
      </p:pic>
      <p:pic>
        <p:nvPicPr>
          <p:cNvPr id="11" name="Picture 10">
            <a:extLst>
              <a:ext uri="{FF2B5EF4-FFF2-40B4-BE49-F238E27FC236}">
                <a16:creationId xmlns:a16="http://schemas.microsoft.com/office/drawing/2014/main" id="{FD63CCD4-6861-7AD4-3423-D2442CA87DD8}"/>
              </a:ext>
            </a:extLst>
          </p:cNvPr>
          <p:cNvPicPr>
            <a:picLocks noChangeAspect="1"/>
          </p:cNvPicPr>
          <p:nvPr/>
        </p:nvPicPr>
        <p:blipFill>
          <a:blip r:embed="rId4"/>
          <a:srcRect r="9460"/>
          <a:stretch>
            <a:fillRect/>
          </a:stretch>
        </p:blipFill>
        <p:spPr>
          <a:xfrm>
            <a:off x="7913295" y="2200459"/>
            <a:ext cx="1945812" cy="2133001"/>
          </a:xfrm>
          <a:prstGeom prst="rect">
            <a:avLst/>
          </a:prstGeom>
        </p:spPr>
      </p:pic>
      <p:sp>
        <p:nvSpPr>
          <p:cNvPr id="9" name="Content Placeholder 8">
            <a:extLst>
              <a:ext uri="{FF2B5EF4-FFF2-40B4-BE49-F238E27FC236}">
                <a16:creationId xmlns:a16="http://schemas.microsoft.com/office/drawing/2014/main" id="{AA2F1771-073C-F013-0FD3-766E370E265D}"/>
              </a:ext>
            </a:extLst>
          </p:cNvPr>
          <p:cNvSpPr>
            <a:spLocks noGrp="1"/>
          </p:cNvSpPr>
          <p:nvPr>
            <p:ph idx="1"/>
          </p:nvPr>
        </p:nvSpPr>
        <p:spPr>
          <a:xfrm>
            <a:off x="1371601" y="4786744"/>
            <a:ext cx="9448800" cy="1442631"/>
          </a:xfrm>
        </p:spPr>
        <p:txBody>
          <a:bodyPr>
            <a:normAutofit/>
          </a:bodyPr>
          <a:lstStyle/>
          <a:p>
            <a:pPr marL="0" indent="0">
              <a:buNone/>
            </a:pPr>
            <a:r>
              <a:rPr lang="en-GB" sz="2000"/>
              <a:t>By adding a lot of edge loops to a duplicate model, I was able to smooth out all the edges of the model. Once I was happy with the final appearance of the high poly model preview, I smoothed  mesh preview to polygons to permanently smooth the model.</a:t>
            </a:r>
          </a:p>
        </p:txBody>
      </p:sp>
    </p:spTree>
    <p:extLst>
      <p:ext uri="{BB962C8B-B14F-4D97-AF65-F5344CB8AC3E}">
        <p14:creationId xmlns:p14="http://schemas.microsoft.com/office/powerpoint/2010/main" val="31459865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D396534-F190-960F-50A0-EB90ADEAECD6}"/>
              </a:ext>
            </a:extLst>
          </p:cNvPr>
          <p:cNvSpPr>
            <a:spLocks noGrp="1"/>
          </p:cNvSpPr>
          <p:nvPr>
            <p:ph type="title"/>
          </p:nvPr>
        </p:nvSpPr>
        <p:spPr>
          <a:xfrm>
            <a:off x="1136397" y="502020"/>
            <a:ext cx="5323715" cy="1642970"/>
          </a:xfrm>
        </p:spPr>
        <p:txBody>
          <a:bodyPr anchor="b">
            <a:normAutofit/>
          </a:bodyPr>
          <a:lstStyle/>
          <a:p>
            <a:r>
              <a:rPr lang="en-GB" sz="4000"/>
              <a:t>UV Unwrap</a:t>
            </a:r>
          </a:p>
        </p:txBody>
      </p:sp>
      <p:sp>
        <p:nvSpPr>
          <p:cNvPr id="3" name="Content Placeholder 2">
            <a:extLst>
              <a:ext uri="{FF2B5EF4-FFF2-40B4-BE49-F238E27FC236}">
                <a16:creationId xmlns:a16="http://schemas.microsoft.com/office/drawing/2014/main" id="{1F2B883D-C7AB-866E-5CB9-28F38650283A}"/>
              </a:ext>
            </a:extLst>
          </p:cNvPr>
          <p:cNvSpPr>
            <a:spLocks noGrp="1"/>
          </p:cNvSpPr>
          <p:nvPr>
            <p:ph idx="1"/>
          </p:nvPr>
        </p:nvSpPr>
        <p:spPr>
          <a:xfrm>
            <a:off x="1144923" y="2405894"/>
            <a:ext cx="5315189" cy="3535083"/>
          </a:xfrm>
        </p:spPr>
        <p:txBody>
          <a:bodyPr anchor="t">
            <a:normAutofit/>
          </a:bodyPr>
          <a:lstStyle/>
          <a:p>
            <a:pPr marL="0" indent="0">
              <a:buNone/>
            </a:pPr>
            <a:r>
              <a:rPr lang="en-GB" sz="2000"/>
              <a:t>My UV is made to prevent component overlap to ensure that individual parts of the model can be properly textured without errors   </a:t>
            </a:r>
          </a:p>
        </p:txBody>
      </p:sp>
      <p:sp>
        <p:nvSpPr>
          <p:cNvPr id="14" name="Rectangle 13">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6">
            <a:extLst>
              <a:ext uri="{FF2B5EF4-FFF2-40B4-BE49-F238E27FC236}">
                <a16:creationId xmlns:a16="http://schemas.microsoft.com/office/drawing/2014/main" id="{800B8AF7-45DA-7B0F-3548-9E0FB7F6C612}"/>
              </a:ext>
            </a:extLst>
          </p:cNvPr>
          <p:cNvPicPr>
            <a:picLocks noChangeAspect="1"/>
          </p:cNvPicPr>
          <p:nvPr/>
        </p:nvPicPr>
        <p:blipFill>
          <a:blip r:embed="rId2"/>
          <a:stretch>
            <a:fillRect/>
          </a:stretch>
        </p:blipFill>
        <p:spPr>
          <a:xfrm>
            <a:off x="7075967" y="1557782"/>
            <a:ext cx="4170530" cy="3774329"/>
          </a:xfrm>
          <a:prstGeom prst="rect">
            <a:avLst/>
          </a:prstGeom>
        </p:spPr>
      </p:pic>
    </p:spTree>
    <p:extLst>
      <p:ext uri="{BB962C8B-B14F-4D97-AF65-F5344CB8AC3E}">
        <p14:creationId xmlns:p14="http://schemas.microsoft.com/office/powerpoint/2010/main" val="32694594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712E947-0734-45F9-9C4F-41114EC3A3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6ADCBB4-7B65-4B4A-8557-B08BBDDF43C6}"/>
              </a:ext>
            </a:extLst>
          </p:cNvPr>
          <p:cNvSpPr>
            <a:spLocks noGrp="1"/>
          </p:cNvSpPr>
          <p:nvPr>
            <p:ph type="title"/>
          </p:nvPr>
        </p:nvSpPr>
        <p:spPr>
          <a:xfrm>
            <a:off x="1144506" y="457201"/>
            <a:ext cx="4065669" cy="1933574"/>
          </a:xfrm>
        </p:spPr>
        <p:txBody>
          <a:bodyPr anchor="b">
            <a:normAutofit/>
          </a:bodyPr>
          <a:lstStyle/>
          <a:p>
            <a:r>
              <a:rPr lang="en-GB" sz="4000"/>
              <a:t>Naming Conventions</a:t>
            </a:r>
          </a:p>
        </p:txBody>
      </p:sp>
      <p:sp>
        <p:nvSpPr>
          <p:cNvPr id="3" name="Content Placeholder 2">
            <a:extLst>
              <a:ext uri="{FF2B5EF4-FFF2-40B4-BE49-F238E27FC236}">
                <a16:creationId xmlns:a16="http://schemas.microsoft.com/office/drawing/2014/main" id="{BA5893D0-540F-E8FA-4807-B158FFE815F8}"/>
              </a:ext>
            </a:extLst>
          </p:cNvPr>
          <p:cNvSpPr>
            <a:spLocks noGrp="1"/>
          </p:cNvSpPr>
          <p:nvPr>
            <p:ph idx="1"/>
          </p:nvPr>
        </p:nvSpPr>
        <p:spPr>
          <a:xfrm>
            <a:off x="1144505" y="2714625"/>
            <a:ext cx="4065668" cy="3023566"/>
          </a:xfrm>
        </p:spPr>
        <p:txBody>
          <a:bodyPr>
            <a:normAutofit/>
          </a:bodyPr>
          <a:lstStyle/>
          <a:p>
            <a:pPr marL="0" indent="0">
              <a:buNone/>
            </a:pPr>
            <a:r>
              <a:rPr lang="en-GB" sz="1700"/>
              <a:t>To allow for more efficient baking in Substance Painter, each part of the models were named so I could instantly tell what part of the model I would be looking at. The names were the same for each part of the model with the exception of the suffix ‘_low’ for components on the low poly model and ‘_high’ for the high poly components. At this point, the two models were ready to be exported as two .fbx files for the texturing process in Substance Painter.</a:t>
            </a:r>
          </a:p>
        </p:txBody>
      </p:sp>
      <p:pic>
        <p:nvPicPr>
          <p:cNvPr id="7" name="Picture 6">
            <a:extLst>
              <a:ext uri="{FF2B5EF4-FFF2-40B4-BE49-F238E27FC236}">
                <a16:creationId xmlns:a16="http://schemas.microsoft.com/office/drawing/2014/main" id="{81E3C894-408B-7F53-3E7B-DFDD6CEE4D20}"/>
              </a:ext>
            </a:extLst>
          </p:cNvPr>
          <p:cNvPicPr>
            <a:picLocks noChangeAspect="1"/>
          </p:cNvPicPr>
          <p:nvPr/>
        </p:nvPicPr>
        <p:blipFill>
          <a:blip r:embed="rId2"/>
          <a:srcRect t="3116" b="3081"/>
          <a:stretch>
            <a:fillRect/>
          </a:stretch>
        </p:blipFill>
        <p:spPr>
          <a:xfrm>
            <a:off x="5534026" y="1367157"/>
            <a:ext cx="2682054" cy="3895149"/>
          </a:xfrm>
          <a:prstGeom prst="rect">
            <a:avLst/>
          </a:prstGeom>
        </p:spPr>
      </p:pic>
      <p:pic>
        <p:nvPicPr>
          <p:cNvPr id="5" name="Picture 4">
            <a:extLst>
              <a:ext uri="{FF2B5EF4-FFF2-40B4-BE49-F238E27FC236}">
                <a16:creationId xmlns:a16="http://schemas.microsoft.com/office/drawing/2014/main" id="{DE6C6FF1-47B1-9C0F-FE55-8B5DD9B70999}"/>
              </a:ext>
            </a:extLst>
          </p:cNvPr>
          <p:cNvPicPr>
            <a:picLocks noChangeAspect="1"/>
          </p:cNvPicPr>
          <p:nvPr/>
        </p:nvPicPr>
        <p:blipFill>
          <a:blip r:embed="rId3"/>
          <a:srcRect t="3180"/>
          <a:stretch>
            <a:fillRect/>
          </a:stretch>
        </p:blipFill>
        <p:spPr>
          <a:xfrm>
            <a:off x="8537813" y="1922732"/>
            <a:ext cx="2682054" cy="2783993"/>
          </a:xfrm>
          <a:prstGeom prst="rect">
            <a:avLst/>
          </a:prstGeom>
        </p:spPr>
      </p:pic>
      <p:sp>
        <p:nvSpPr>
          <p:cNvPr id="14" name="Rectangle 13">
            <a:extLst>
              <a:ext uri="{FF2B5EF4-FFF2-40B4-BE49-F238E27FC236}">
                <a16:creationId xmlns:a16="http://schemas.microsoft.com/office/drawing/2014/main" id="{5A65989E-BBD5-44D7-AA86-7AFD5D46BB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56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31A2881-D8D7-4A7D-ACA3-E9F849F853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79097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EDC07B27-4E3C-4BCF-ABDB-6AA72857C0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500"/>
            <a:ext cx="12191998" cy="6858000"/>
          </a:xfrm>
          <a:prstGeom prst="rect">
            <a:avLst/>
          </a:prstGeom>
          <a:gradFill>
            <a:gsLst>
              <a:gs pos="19000">
                <a:srgbClr val="000000">
                  <a:alpha val="96000"/>
                </a:srgbClr>
              </a:gs>
              <a:gs pos="100000">
                <a:schemeClr val="accent1"/>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3D11BE6-2A04-4DBB-842D-88602B5E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78536" y="12437"/>
            <a:ext cx="11713464" cy="6844063"/>
          </a:xfrm>
          <a:prstGeom prst="rect">
            <a:avLst/>
          </a:prstGeom>
          <a:gradFill>
            <a:gsLst>
              <a:gs pos="0">
                <a:srgbClr val="000000">
                  <a:alpha val="71765"/>
                </a:srgbClr>
              </a:gs>
              <a:gs pos="100000">
                <a:schemeClr val="accent1">
                  <a:alpha val="2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A05E02A-9AA9-45EC-B87B-B46F043F3F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 y="2724072"/>
            <a:ext cx="12192008" cy="4114801"/>
          </a:xfrm>
          <a:prstGeom prst="rect">
            <a:avLst/>
          </a:prstGeom>
          <a:gradFill>
            <a:gsLst>
              <a:gs pos="30000">
                <a:schemeClr val="accent1">
                  <a:lumMod val="75000"/>
                  <a:alpha val="19000"/>
                </a:schemeClr>
              </a:gs>
              <a:gs pos="100000">
                <a:schemeClr val="accent1">
                  <a:alpha val="24000"/>
                </a:scheme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E91EDBA-E8E0-4575-8147-B700345215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709672" y="1716338"/>
            <a:ext cx="6858003" cy="3422328"/>
          </a:xfrm>
          <a:prstGeom prst="rect">
            <a:avLst/>
          </a:prstGeom>
          <a:gradFill>
            <a:gsLst>
              <a:gs pos="0">
                <a:schemeClr val="accent1">
                  <a:alpha val="52000"/>
                </a:schemeClr>
              </a:gs>
              <a:gs pos="76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966C5BB-77CB-230A-0D75-1764AF2BCD89}"/>
              </a:ext>
            </a:extLst>
          </p:cNvPr>
          <p:cNvSpPr>
            <a:spLocks noGrp="1"/>
          </p:cNvSpPr>
          <p:nvPr>
            <p:ph type="title"/>
          </p:nvPr>
        </p:nvSpPr>
        <p:spPr>
          <a:xfrm>
            <a:off x="1166884" y="-382988"/>
            <a:ext cx="9867331" cy="1167495"/>
          </a:xfrm>
        </p:spPr>
        <p:txBody>
          <a:bodyPr vert="horz" lIns="91440" tIns="45720" rIns="91440" bIns="45720" rtlCol="0" anchor="b">
            <a:normAutofit/>
          </a:bodyPr>
          <a:lstStyle/>
          <a:p>
            <a:pPr algn="ctr"/>
            <a:r>
              <a:rPr lang="en-US" sz="4800" dirty="0">
                <a:solidFill>
                  <a:srgbClr val="FFFFFF"/>
                </a:solidFill>
              </a:rPr>
              <a:t>Baking</a:t>
            </a:r>
          </a:p>
        </p:txBody>
      </p:sp>
      <p:sp>
        <p:nvSpPr>
          <p:cNvPr id="22" name="Rectangle 21">
            <a:extLst>
              <a:ext uri="{FF2B5EF4-FFF2-40B4-BE49-F238E27FC236}">
                <a16:creationId xmlns:a16="http://schemas.microsoft.com/office/drawing/2014/main" id="{DFEE4473-A122-4E96-8C31-B4C5AAA27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123" y="2706446"/>
            <a:ext cx="12191997" cy="3711900"/>
          </a:xfrm>
          <a:prstGeom prst="rect">
            <a:avLst/>
          </a:prstGeom>
          <a:gradFill>
            <a:gsLst>
              <a:gs pos="0">
                <a:srgbClr val="000000">
                  <a:alpha val="50000"/>
                </a:srgbClr>
              </a:gs>
              <a:gs pos="92000">
                <a:schemeClr val="accent1">
                  <a:lumMod val="75000"/>
                  <a:alpha val="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EB148AB-8C9C-6AEC-E2EF-F3AC9BFFC657}"/>
              </a:ext>
            </a:extLst>
          </p:cNvPr>
          <p:cNvSpPr>
            <a:spLocks noGrp="1"/>
          </p:cNvSpPr>
          <p:nvPr>
            <p:ph idx="1"/>
          </p:nvPr>
        </p:nvSpPr>
        <p:spPr>
          <a:xfrm>
            <a:off x="965201" y="4292294"/>
            <a:ext cx="2838450" cy="1835456"/>
          </a:xfrm>
        </p:spPr>
        <p:txBody>
          <a:bodyPr vert="horz" lIns="91440" tIns="45720" rIns="91440" bIns="45720" rtlCol="0">
            <a:normAutofit fontScale="85000" lnSpcReduction="20000"/>
          </a:bodyPr>
          <a:lstStyle/>
          <a:p>
            <a:pPr marL="0" indent="0" algn="ctr">
              <a:buNone/>
            </a:pPr>
            <a:r>
              <a:rPr lang="en-US" sz="2400" dirty="0">
                <a:solidFill>
                  <a:srgbClr val="FFFFFF"/>
                </a:solidFill>
              </a:rPr>
              <a:t>Due to the naming conventions I used, I was able to import my low poly into Substance Painter and baked the high poly on top of it by matching the names of each object </a:t>
            </a:r>
          </a:p>
        </p:txBody>
      </p:sp>
      <p:pic>
        <p:nvPicPr>
          <p:cNvPr id="9" name="Picture 8">
            <a:extLst>
              <a:ext uri="{FF2B5EF4-FFF2-40B4-BE49-F238E27FC236}">
                <a16:creationId xmlns:a16="http://schemas.microsoft.com/office/drawing/2014/main" id="{C9AB55E1-512A-7CC4-4F10-95ADCC5DF56D}"/>
              </a:ext>
            </a:extLst>
          </p:cNvPr>
          <p:cNvPicPr>
            <a:picLocks noChangeAspect="1"/>
          </p:cNvPicPr>
          <p:nvPr/>
        </p:nvPicPr>
        <p:blipFill>
          <a:blip r:embed="rId2"/>
          <a:stretch>
            <a:fillRect/>
          </a:stretch>
        </p:blipFill>
        <p:spPr>
          <a:xfrm>
            <a:off x="8174810" y="892614"/>
            <a:ext cx="2582477" cy="3232110"/>
          </a:xfrm>
          <a:prstGeom prst="rect">
            <a:avLst/>
          </a:prstGeom>
        </p:spPr>
      </p:pic>
      <p:pic>
        <p:nvPicPr>
          <p:cNvPr id="5" name="Picture 4">
            <a:extLst>
              <a:ext uri="{FF2B5EF4-FFF2-40B4-BE49-F238E27FC236}">
                <a16:creationId xmlns:a16="http://schemas.microsoft.com/office/drawing/2014/main" id="{8F26A963-28A1-0AB2-3146-53A97B259077}"/>
              </a:ext>
            </a:extLst>
          </p:cNvPr>
          <p:cNvPicPr>
            <a:picLocks noChangeAspect="1"/>
          </p:cNvPicPr>
          <p:nvPr/>
        </p:nvPicPr>
        <p:blipFill>
          <a:blip r:embed="rId3"/>
          <a:stretch>
            <a:fillRect/>
          </a:stretch>
        </p:blipFill>
        <p:spPr>
          <a:xfrm>
            <a:off x="906262" y="906682"/>
            <a:ext cx="2791650" cy="3218041"/>
          </a:xfrm>
          <a:prstGeom prst="rect">
            <a:avLst/>
          </a:prstGeom>
        </p:spPr>
      </p:pic>
      <p:pic>
        <p:nvPicPr>
          <p:cNvPr id="7" name="Picture 6">
            <a:extLst>
              <a:ext uri="{FF2B5EF4-FFF2-40B4-BE49-F238E27FC236}">
                <a16:creationId xmlns:a16="http://schemas.microsoft.com/office/drawing/2014/main" id="{1ABCE275-CD12-46F6-B960-A5473F0E815C}"/>
              </a:ext>
            </a:extLst>
          </p:cNvPr>
          <p:cNvPicPr>
            <a:picLocks noChangeAspect="1"/>
          </p:cNvPicPr>
          <p:nvPr/>
        </p:nvPicPr>
        <p:blipFill>
          <a:blip r:embed="rId4"/>
          <a:stretch>
            <a:fillRect/>
          </a:stretch>
        </p:blipFill>
        <p:spPr>
          <a:xfrm>
            <a:off x="4762508" y="892614"/>
            <a:ext cx="2469846" cy="3232109"/>
          </a:xfrm>
          <a:prstGeom prst="rect">
            <a:avLst/>
          </a:prstGeom>
        </p:spPr>
      </p:pic>
      <p:sp>
        <p:nvSpPr>
          <p:cNvPr id="10" name="Content Placeholder 2">
            <a:extLst>
              <a:ext uri="{FF2B5EF4-FFF2-40B4-BE49-F238E27FC236}">
                <a16:creationId xmlns:a16="http://schemas.microsoft.com/office/drawing/2014/main" id="{1C083D79-88D9-7980-70B8-782FF80EECE9}"/>
              </a:ext>
            </a:extLst>
          </p:cNvPr>
          <p:cNvSpPr txBox="1">
            <a:spLocks/>
          </p:cNvSpPr>
          <p:nvPr/>
        </p:nvSpPr>
        <p:spPr>
          <a:xfrm>
            <a:off x="4762508" y="4292294"/>
            <a:ext cx="2838450" cy="1835456"/>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2400" dirty="0">
                <a:solidFill>
                  <a:srgbClr val="FFFFFF"/>
                </a:solidFill>
              </a:rPr>
              <a:t>After baking the model, I worked on the base colours for each of the objects comprising the model by applying masks to the model using materials available in Substance Painter</a:t>
            </a:r>
          </a:p>
        </p:txBody>
      </p:sp>
      <p:sp>
        <p:nvSpPr>
          <p:cNvPr id="11" name="Content Placeholder 2">
            <a:extLst>
              <a:ext uri="{FF2B5EF4-FFF2-40B4-BE49-F238E27FC236}">
                <a16:creationId xmlns:a16="http://schemas.microsoft.com/office/drawing/2014/main" id="{1BD912D2-C974-FFFF-72B6-D14D48C898D4}"/>
              </a:ext>
            </a:extLst>
          </p:cNvPr>
          <p:cNvSpPr txBox="1">
            <a:spLocks/>
          </p:cNvSpPr>
          <p:nvPr/>
        </p:nvSpPr>
        <p:spPr>
          <a:xfrm>
            <a:off x="8046823" y="4292294"/>
            <a:ext cx="2838450" cy="1835456"/>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2400" dirty="0">
                <a:solidFill>
                  <a:srgbClr val="FFFFFF"/>
                </a:solidFill>
              </a:rPr>
              <a:t>After texturing the base colours I added further detail to the model such as the arrowhead shapes on the model. These were added as stamps and applied to </a:t>
            </a:r>
            <a:r>
              <a:rPr lang="en-US" sz="2400">
                <a:solidFill>
                  <a:srgbClr val="FFFFFF"/>
                </a:solidFill>
              </a:rPr>
              <a:t>a brush as masks.</a:t>
            </a:r>
            <a:endParaRPr lang="en-US" sz="2400" dirty="0">
              <a:solidFill>
                <a:srgbClr val="FFFFFF"/>
              </a:solidFill>
            </a:endParaRPr>
          </a:p>
        </p:txBody>
      </p:sp>
    </p:spTree>
    <p:extLst>
      <p:ext uri="{BB962C8B-B14F-4D97-AF65-F5344CB8AC3E}">
        <p14:creationId xmlns:p14="http://schemas.microsoft.com/office/powerpoint/2010/main" val="4136246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441</TotalTime>
  <Words>449</Words>
  <Application>Microsoft Office PowerPoint</Application>
  <PresentationFormat>Widescreen</PresentationFormat>
  <Paragraphs>24</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Aptos</vt:lpstr>
      <vt:lpstr>Aptos Display</vt:lpstr>
      <vt:lpstr>Arial</vt:lpstr>
      <vt:lpstr>Office Theme</vt:lpstr>
      <vt:lpstr>3D Modelling </vt:lpstr>
      <vt:lpstr>Task Assignment</vt:lpstr>
      <vt:lpstr>Basic Block Out</vt:lpstr>
      <vt:lpstr>Low Poly Model</vt:lpstr>
      <vt:lpstr>High Poly Model</vt:lpstr>
      <vt:lpstr>UV Unwrap</vt:lpstr>
      <vt:lpstr>Naming Conventions</vt:lpstr>
      <vt:lpstr>Baking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Clay Johnson</dc:creator>
  <cp:lastModifiedBy>Clay Johnson</cp:lastModifiedBy>
  <cp:revision>4</cp:revision>
  <dcterms:created xsi:type="dcterms:W3CDTF">2026-04-24T21:13:19Z</dcterms:created>
  <dcterms:modified xsi:type="dcterms:W3CDTF">2026-04-27T00:57:04Z</dcterms:modified>
</cp:coreProperties>
</file>